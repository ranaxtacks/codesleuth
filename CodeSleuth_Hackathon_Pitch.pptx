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16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desleuth_hero_banner_178646727836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097280"/>
            <a:ext cx="512064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3716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38BDF8"/>
                </a:solidFill>
              </a:defRPr>
            </a:pPr>
            <a:r>
              <a:t>CodeSleuth</a:t>
            </a:r>
          </a:p>
          <a:p>
            <a:pPr>
              <a:spcBef>
                <a:spcPts val="1000"/>
              </a:spcBef>
              <a:defRPr sz="2200" b="1">
                <a:solidFill>
                  <a:srgbClr val="F4F4F5"/>
                </a:solidFill>
              </a:defRPr>
            </a:pPr>
            <a:r>
              <a:t>AI Security Audit &amp; Sandboxed Test Execution Engine</a:t>
            </a:r>
          </a:p>
          <a:p>
            <a:pPr>
              <a:spcBef>
                <a:spcPts val="1500"/>
              </a:spcBef>
              <a:defRPr sz="1300">
                <a:solidFill>
                  <a:srgbClr val="34D399"/>
                </a:solidFill>
              </a:defRPr>
            </a:pPr>
            <a:r>
              <a:t>Grounded AI Reviews • Semgrep Static Rules • Live Pytest Sandbox • GitHub PR Analysis</a:t>
            </a:r>
          </a:p>
          <a:p>
            <a:pPr>
              <a:spcBef>
                <a:spcPts val="3000"/>
              </a:spcBef>
              <a:defRPr sz="1200">
                <a:solidFill>
                  <a:srgbClr val="A1A1AA"/>
                </a:solidFill>
              </a:defRPr>
            </a:pPr>
            <a:r>
              <a:t>🏆 International Hackathon Submission • Presentation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CODESLEUTH • INTERNATIONAL HACKATHON PITCH</a:t>
            </a:r>
          </a:p>
          <a:p>
            <a:pPr>
              <a:defRPr sz="2600" b="1">
                <a:solidFill>
                  <a:srgbClr val="F4F4F5"/>
                </a:solidFill>
              </a:defRPr>
            </a:pPr>
            <a:r>
              <a:t>The Problem: AI Code Reviewers Lack Verification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291840" cy="4572000"/>
          </a:xfrm>
          <a:prstGeom prst="roundRect">
            <a:avLst/>
          </a:prstGeom>
          <a:solidFill>
            <a:srgbClr val="121214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7171"/>
                </a:solidFill>
              </a:defRPr>
            </a:pPr>
            <a:r>
              <a:t>1. AI Hallucinations</a:t>
            </a:r>
          </a:p>
          <a:p>
            <a:pPr>
              <a:spcBef>
                <a:spcPts val="600"/>
              </a:spcBef>
              <a:defRPr sz="1200">
                <a:solidFill>
                  <a:srgbClr val="A1A1AA"/>
                </a:solidFill>
              </a:defRPr>
            </a:pPr>
            <a:r>
              <a:t>• Standard LLMs invent non-existent security flaws.</a:t>
            </a:r>
          </a:p>
          <a:p>
            <a:pPr>
              <a:spcBef>
                <a:spcPts val="600"/>
              </a:spcBef>
              <a:defRPr sz="1200">
                <a:solidFill>
                  <a:srgbClr val="A1A1AA"/>
                </a:solidFill>
              </a:defRPr>
            </a:pPr>
            <a:r>
              <a:t>• Generates ungrounded suggestions.</a:t>
            </a:r>
          </a:p>
          <a:p>
            <a:pPr>
              <a:spcBef>
                <a:spcPts val="600"/>
              </a:spcBef>
              <a:defRPr sz="1200">
                <a:solidFill>
                  <a:srgbClr val="A1A1AA"/>
                </a:solidFill>
              </a:defRPr>
            </a:pPr>
            <a:r>
              <a:t>• Wastes developer time reviewing false positives.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291840" cy="4572000"/>
          </a:xfrm>
          <a:prstGeom prst="roundRect">
            <a:avLst/>
          </a:prstGeom>
          <a:solidFill>
            <a:srgbClr val="121214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73736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7171"/>
                </a:solidFill>
              </a:defRPr>
            </a:pPr>
            <a:r>
              <a:t>2. Broken Unit Tests</a:t>
            </a:r>
          </a:p>
          <a:p>
            <a:pPr>
              <a:spcBef>
                <a:spcPts val="600"/>
              </a:spcBef>
              <a:defRPr sz="1200">
                <a:solidFill>
                  <a:srgbClr val="A1A1AA"/>
                </a:solidFill>
              </a:defRPr>
            </a:pPr>
            <a:r>
              <a:t>• Generated unit tests often fail to run.</a:t>
            </a:r>
          </a:p>
          <a:p>
            <a:pPr>
              <a:spcBef>
                <a:spcPts val="600"/>
              </a:spcBef>
              <a:defRPr sz="1200">
                <a:solidFill>
                  <a:srgbClr val="A1A1AA"/>
                </a:solidFill>
              </a:defRPr>
            </a:pPr>
            <a:r>
              <a:t>• Syntax errors &amp; import failures.</a:t>
            </a:r>
          </a:p>
          <a:p>
            <a:pPr>
              <a:spcBef>
                <a:spcPts val="600"/>
              </a:spcBef>
              <a:defRPr sz="1200">
                <a:solidFill>
                  <a:srgbClr val="A1A1AA"/>
                </a:solidFill>
              </a:defRPr>
            </a:pPr>
            <a:r>
              <a:t>• No execution proof provided by LLMs.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291840" cy="4572000"/>
          </a:xfrm>
          <a:prstGeom prst="roundRect">
            <a:avLst/>
          </a:prstGeom>
          <a:solidFill>
            <a:srgbClr val="121214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73736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7171"/>
                </a:solidFill>
              </a:defRPr>
            </a:pPr>
            <a:r>
              <a:t>3. Unverified PRs</a:t>
            </a:r>
          </a:p>
          <a:p>
            <a:pPr>
              <a:spcBef>
                <a:spcPts val="600"/>
              </a:spcBef>
              <a:defRPr sz="1200">
                <a:solidFill>
                  <a:srgbClr val="A1A1AA"/>
                </a:solidFill>
              </a:defRPr>
            </a:pPr>
            <a:r>
              <a:t>• PR reviews rely purely on text generation.</a:t>
            </a:r>
          </a:p>
          <a:p>
            <a:pPr>
              <a:spcBef>
                <a:spcPts val="600"/>
              </a:spcBef>
              <a:defRPr sz="1200">
                <a:solidFill>
                  <a:srgbClr val="A1A1AA"/>
                </a:solidFill>
              </a:defRPr>
            </a:pPr>
            <a:r>
              <a:t>• No sandbox testing of diff hunks.</a:t>
            </a:r>
          </a:p>
          <a:p>
            <a:pPr>
              <a:spcBef>
                <a:spcPts val="600"/>
              </a:spcBef>
              <a:defRPr sz="1200">
                <a:solidFill>
                  <a:srgbClr val="A1A1AA"/>
                </a:solidFill>
              </a:defRPr>
            </a:pPr>
            <a:r>
              <a:t>• Zero runtime validation of suggested fixes.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CODESLEUTH • INTERNATIONAL HACKATHON PITCH</a:t>
            </a:r>
          </a:p>
          <a:p>
            <a:pPr>
              <a:defRPr sz="2600" b="1">
                <a:solidFill>
                  <a:srgbClr val="F4F4F5"/>
                </a:solidFill>
              </a:defRPr>
            </a:pPr>
            <a:r>
              <a:t>The Solution: Grounded AI + Sandboxed Execution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4937760" cy="4572000"/>
          </a:xfrm>
          <a:prstGeom prst="roundRect">
            <a:avLst/>
          </a:prstGeom>
          <a:solidFill>
            <a:srgbClr val="121214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Dual-Layer Intelligence</a:t>
            </a:r>
          </a:p>
          <a:p>
            <a:pPr>
              <a:spcBef>
                <a:spcPts val="600"/>
              </a:spcBef>
              <a:defRPr sz="1200">
                <a:solidFill>
                  <a:srgbClr val="A1A1AA"/>
                </a:solidFill>
              </a:defRPr>
            </a:pPr>
            <a:r>
              <a:t>• Semgrep Static Scan: Runs p/security-audit rulesets for deterministic grounding.</a:t>
            </a:r>
          </a:p>
          <a:p>
            <a:pPr>
              <a:spcBef>
                <a:spcPts val="600"/>
              </a:spcBef>
              <a:defRPr sz="1200">
                <a:solidFill>
                  <a:srgbClr val="A1A1AA"/>
                </a:solidFill>
              </a:defRPr>
            </a:pPr>
            <a:r>
              <a:t>• Gemini AI Inference: Explains RCE exploits &amp; generates clean pytest code.</a:t>
            </a:r>
          </a:p>
          <a:p>
            <a:pPr>
              <a:spcBef>
                <a:spcPts val="600"/>
              </a:spcBef>
              <a:defRPr sz="1200">
                <a:solidFill>
                  <a:srgbClr val="A1A1AA"/>
                </a:solidFill>
              </a:defRPr>
            </a:pPr>
            <a:r>
              <a:t>• Isolated Pytest Sandbox: Spawns tempdir subprocess &amp; executes tests live.</a:t>
            </a:r>
          </a:p>
          <a:p>
            <a:pPr>
              <a:spcBef>
                <a:spcPts val="600"/>
              </a:spcBef>
              <a:defRPr sz="1200">
                <a:solidFill>
                  <a:srgbClr val="A1A1AA"/>
                </a:solidFill>
              </a:defRPr>
            </a:pPr>
            <a:r>
              <a:t>• Empirical Output: Returns '8 passed in 0.13s' with terminal stdout logs.</a:t>
            </a:r>
          </a:p>
        </p:txBody>
      </p:sp>
      <p:pic>
        <p:nvPicPr>
          <p:cNvPr id="6" name="Picture 5" descr="codesleuth_ui_mockup_178646716250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554480"/>
            <a:ext cx="54864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CODESLEUTH • INTERNATIONAL HACKATHON PITCH</a:t>
            </a:r>
          </a:p>
          <a:p>
            <a:pPr>
              <a:defRPr sz="2600" b="1">
                <a:solidFill>
                  <a:srgbClr val="F4F4F5"/>
                </a:solidFill>
              </a:defRPr>
            </a:pPr>
            <a:r>
              <a:t>Why CodeSleuth Wins: Grounded vs. Unverified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121214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7171"/>
                </a:solidFill>
              </a:defRPr>
            </a:pPr>
            <a:r>
              <a:t>❌ Generic AI Code Tools</a:t>
            </a:r>
          </a:p>
          <a:p>
            <a:pPr>
              <a:spcBef>
                <a:spcPts val="600"/>
              </a:spcBef>
              <a:defRPr sz="1200">
                <a:solidFill>
                  <a:srgbClr val="A1A1AA"/>
                </a:solidFill>
              </a:defRPr>
            </a:pPr>
            <a:r>
              <a:t>• Simple prompt wrapper.</a:t>
            </a:r>
          </a:p>
          <a:p>
            <a:pPr>
              <a:spcBef>
                <a:spcPts val="600"/>
              </a:spcBef>
              <a:defRPr sz="1200">
                <a:solidFill>
                  <a:srgbClr val="A1A1AA"/>
                </a:solidFill>
              </a:defRPr>
            </a:pPr>
            <a:r>
              <a:t>• Cannot prove generated tests pass.</a:t>
            </a:r>
          </a:p>
          <a:p>
            <a:pPr>
              <a:spcBef>
                <a:spcPts val="600"/>
              </a:spcBef>
              <a:defRPr sz="1200">
                <a:solidFill>
                  <a:srgbClr val="A1A1AA"/>
                </a:solidFill>
              </a:defRPr>
            </a:pPr>
            <a:r>
              <a:t>• Syntax errors &amp; broken imports.</a:t>
            </a:r>
          </a:p>
          <a:p>
            <a:pPr>
              <a:spcBef>
                <a:spcPts val="600"/>
              </a:spcBef>
              <a:defRPr sz="1200">
                <a:solidFill>
                  <a:srgbClr val="A1A1AA"/>
                </a:solidFill>
              </a:defRPr>
            </a:pPr>
            <a:r>
              <a:t>• Fails on complex pull requests.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120640" cy="4572000"/>
          </a:xfrm>
          <a:prstGeom prst="roundRect">
            <a:avLst/>
          </a:prstGeom>
          <a:solidFill>
            <a:srgbClr val="121214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⚡ CodeSleuth Engine</a:t>
            </a:r>
          </a:p>
          <a:p>
            <a:pPr>
              <a:spcBef>
                <a:spcPts val="600"/>
              </a:spcBef>
              <a:defRPr sz="1200">
                <a:solidFill>
                  <a:srgbClr val="A1A1AA"/>
                </a:solidFill>
              </a:defRPr>
            </a:pPr>
            <a:r>
              <a:t>• Dual-layer verification (Semgrep + Gemini AI).</a:t>
            </a:r>
          </a:p>
          <a:p>
            <a:pPr>
              <a:spcBef>
                <a:spcPts val="600"/>
              </a:spcBef>
              <a:defRPr sz="1200">
                <a:solidFill>
                  <a:srgbClr val="A1A1AA"/>
                </a:solidFill>
              </a:defRPr>
            </a:pPr>
            <a:r>
              <a:t>• Executes real Pytest subprocesses in temp sandboxes.</a:t>
            </a:r>
          </a:p>
          <a:p>
            <a:pPr>
              <a:spcBef>
                <a:spcPts val="600"/>
              </a:spcBef>
              <a:defRPr sz="1200">
                <a:solidFill>
                  <a:srgbClr val="A1A1AA"/>
                </a:solidFill>
              </a:defRPr>
            </a:pPr>
            <a:r>
              <a:t>• Empirical execution proof: '8 passed in 0.13s'.</a:t>
            </a:r>
          </a:p>
          <a:p>
            <a:pPr>
              <a:spcBef>
                <a:spcPts val="600"/>
              </a:spcBef>
              <a:defRPr sz="1200">
                <a:solidFill>
                  <a:srgbClr val="A1A1AA"/>
                </a:solidFill>
              </a:defRPr>
            </a:pPr>
            <a:r>
              <a:t>• Hot-reloading API key management.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CODESLEUTH • INTERNATIONAL HACKATHON PITCH</a:t>
            </a:r>
          </a:p>
          <a:p>
            <a:pPr>
              <a:defRPr sz="2600" b="1">
                <a:solidFill>
                  <a:srgbClr val="F4F4F5"/>
                </a:solidFill>
              </a:defRPr>
            </a:pPr>
            <a:r>
              <a:t>System Architecture &amp; Execution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4754880" cy="4572000"/>
          </a:xfrm>
          <a:prstGeom prst="roundRect">
            <a:avLst/>
          </a:prstGeom>
          <a:solidFill>
            <a:srgbClr val="121214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389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Pipeline Architecture</a:t>
            </a:r>
          </a:p>
          <a:p>
            <a:pPr>
              <a:spcBef>
                <a:spcPts val="600"/>
              </a:spcBef>
              <a:defRPr sz="1200">
                <a:solidFill>
                  <a:srgbClr val="A1A1AA"/>
                </a:solidFill>
              </a:defRPr>
            </a:pPr>
            <a:r>
              <a:t>• React + Vite UI (Port 5173): Glassmorphism interface with status pills.</a:t>
            </a:r>
          </a:p>
          <a:p>
            <a:pPr>
              <a:spcBef>
                <a:spcPts val="600"/>
              </a:spcBef>
              <a:defRPr sz="1200">
                <a:solidFill>
                  <a:srgbClr val="A1A1AA"/>
                </a:solidFill>
              </a:defRPr>
            </a:pPr>
            <a:r>
              <a:t>• FastAPI Backend (Port 8001): Asynchronous orchestrator with non-blocking threading.</a:t>
            </a:r>
          </a:p>
          <a:p>
            <a:pPr>
              <a:spcBef>
                <a:spcPts val="600"/>
              </a:spcBef>
              <a:defRPr sz="1200">
                <a:solidFill>
                  <a:srgbClr val="A1A1AA"/>
                </a:solidFill>
              </a:defRPr>
            </a:pPr>
            <a:r>
              <a:t>• Semgrep Static Scanner: Eliminates hallucinations with rule-based evidence.</a:t>
            </a:r>
          </a:p>
          <a:p>
            <a:pPr>
              <a:spcBef>
                <a:spcPts val="600"/>
              </a:spcBef>
              <a:defRPr sz="1200">
                <a:solidFill>
                  <a:srgbClr val="A1A1AA"/>
                </a:solidFill>
              </a:defRPr>
            </a:pPr>
            <a:r>
              <a:t>• Pytest Sandbox Runner: Isolated subprocess with 15s hard execution cap.</a:t>
            </a:r>
          </a:p>
        </p:txBody>
      </p:sp>
      <p:pic>
        <p:nvPicPr>
          <p:cNvPr id="6" name="Picture 5" descr="codesleuth_architecture_diagram_178646706878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1554480"/>
            <a:ext cx="566928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CODESLEUTH • INTERNATIONAL HACKATHON PITCH</a:t>
            </a:r>
          </a:p>
          <a:p>
            <a:pPr>
              <a:defRPr sz="2600" b="1">
                <a:solidFill>
                  <a:srgbClr val="F4F4F5"/>
                </a:solidFill>
              </a:defRPr>
            </a:pPr>
            <a:r>
              <a:t>Live Demo: Critical Vulnerability &amp; Sandbox Execution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291840" cy="4572000"/>
          </a:xfrm>
          <a:prstGeom prst="roundRect">
            <a:avLst/>
          </a:prstGeom>
          <a:solidFill>
            <a:srgbClr val="121214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1. Vulnerable Code</a:t>
            </a:r>
          </a:p>
          <a:p>
            <a:pPr>
              <a:spcBef>
                <a:spcPts val="600"/>
              </a:spcBef>
              <a:defRPr sz="1200">
                <a:solidFill>
                  <a:srgbClr val="A1A1AA"/>
                </a:solidFill>
              </a:defRPr>
            </a:pPr>
            <a:r>
              <a:t>• Python token validator.</a:t>
            </a:r>
          </a:p>
          <a:p>
            <a:pPr>
              <a:spcBef>
                <a:spcPts val="600"/>
              </a:spcBef>
              <a:defRPr sz="1200">
                <a:solidFill>
                  <a:srgbClr val="A1A1AA"/>
                </a:solidFill>
              </a:defRPr>
            </a:pPr>
            <a:r>
              <a:t>• Dangerous eval(token) RCE.</a:t>
            </a:r>
          </a:p>
          <a:p>
            <a:pPr>
              <a:spcBef>
                <a:spcPts val="600"/>
              </a:spcBef>
              <a:defRPr sz="1200">
                <a:solidFill>
                  <a:srgbClr val="A1A1AA"/>
                </a:solidFill>
              </a:defRPr>
            </a:pPr>
            <a:r>
              <a:t>• Missing zero-price check.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291840" cy="4572000"/>
          </a:xfrm>
          <a:prstGeom prst="roundRect">
            <a:avLst/>
          </a:prstGeom>
          <a:solidFill>
            <a:srgbClr val="121214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73736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2. Grounded AI Audit</a:t>
            </a:r>
          </a:p>
          <a:p>
            <a:pPr>
              <a:spcBef>
                <a:spcPts val="600"/>
              </a:spcBef>
              <a:defRPr sz="1200">
                <a:solidFill>
                  <a:srgbClr val="A1A1AA"/>
                </a:solidFill>
              </a:defRPr>
            </a:pPr>
            <a:r>
              <a:t>• Flags CRITICAL RCE flaw.</a:t>
            </a:r>
          </a:p>
          <a:p>
            <a:pPr>
              <a:spcBef>
                <a:spcPts val="600"/>
              </a:spcBef>
              <a:defRPr sz="1200">
                <a:solidFill>
                  <a:srgbClr val="A1A1AA"/>
                </a:solidFill>
              </a:defRPr>
            </a:pPr>
            <a:r>
              <a:t>• Explains attack vector.</a:t>
            </a:r>
          </a:p>
          <a:p>
            <a:pPr>
              <a:spcBef>
                <a:spcPts val="600"/>
              </a:spcBef>
              <a:defRPr sz="1200">
                <a:solidFill>
                  <a:srgbClr val="A1A1AA"/>
                </a:solidFill>
              </a:defRPr>
            </a:pPr>
            <a:r>
              <a:t>• Proposes json.loads() fix.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291840" cy="4572000"/>
          </a:xfrm>
          <a:prstGeom prst="roundRect">
            <a:avLst/>
          </a:prstGeom>
          <a:solidFill>
            <a:srgbClr val="121214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73736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3. Sandbox Inspector</a:t>
            </a:r>
          </a:p>
          <a:p>
            <a:pPr>
              <a:spcBef>
                <a:spcPts val="600"/>
              </a:spcBef>
              <a:defRPr sz="1200">
                <a:solidFill>
                  <a:srgbClr val="A1A1AA"/>
                </a:solidFill>
              </a:defRPr>
            </a:pPr>
            <a:r>
              <a:t>• Generates 5 pytest cases.</a:t>
            </a:r>
          </a:p>
          <a:p>
            <a:pPr>
              <a:spcBef>
                <a:spcPts val="600"/>
              </a:spcBef>
              <a:defRPr sz="1200">
                <a:solidFill>
                  <a:srgbClr val="A1A1AA"/>
                </a:solidFill>
              </a:defRPr>
            </a:pPr>
            <a:r>
              <a:t>• Runs inside temp sandbox.</a:t>
            </a:r>
          </a:p>
          <a:p>
            <a:pPr>
              <a:spcBef>
                <a:spcPts val="600"/>
              </a:spcBef>
              <a:defRPr sz="1200">
                <a:solidFill>
                  <a:srgbClr val="A1A1AA"/>
                </a:solidFill>
              </a:defRPr>
            </a:pPr>
            <a:r>
              <a:t>• Output: '8 passed in 0.13s'.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CODESLEUTH • INTERNATIONAL HACKATHON PITCH</a:t>
            </a:r>
          </a:p>
          <a:p>
            <a:pPr>
              <a:defRPr sz="2600" b="1">
                <a:solidFill>
                  <a:srgbClr val="F4F4F5"/>
                </a:solidFill>
              </a:defRPr>
            </a:pPr>
            <a:r>
              <a:t>Technical Stack &amp; System Resilience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121214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Technology Stack</a:t>
            </a:r>
          </a:p>
          <a:p>
            <a:pPr>
              <a:spcBef>
                <a:spcPts val="600"/>
              </a:spcBef>
              <a:defRPr sz="1200">
                <a:solidFill>
                  <a:srgbClr val="A1A1AA"/>
                </a:solidFill>
              </a:defRPr>
            </a:pPr>
            <a:r>
              <a:t>• Frontend: React 18, Vite, Glassmorphic CSS.</a:t>
            </a:r>
          </a:p>
          <a:p>
            <a:pPr>
              <a:spcBef>
                <a:spcPts val="600"/>
              </a:spcBef>
              <a:defRPr sz="1200">
                <a:solidFill>
                  <a:srgbClr val="A1A1AA"/>
                </a:solidFill>
              </a:defRPr>
            </a:pPr>
            <a:r>
              <a:t>• Backend: FastAPI, Uvicorn, Python 3.10+.</a:t>
            </a:r>
          </a:p>
          <a:p>
            <a:pPr>
              <a:spcBef>
                <a:spcPts val="600"/>
              </a:spcBef>
              <a:defRPr sz="1200">
                <a:solidFill>
                  <a:srgbClr val="A1A1AA"/>
                </a:solidFill>
              </a:defRPr>
            </a:pPr>
            <a:r>
              <a:t>• AI SDK: google-genai (Gemini 3.5/3.6 Flash).</a:t>
            </a:r>
          </a:p>
          <a:p>
            <a:pPr>
              <a:spcBef>
                <a:spcPts val="600"/>
              </a:spcBef>
              <a:defRPr sz="1200">
                <a:solidFill>
                  <a:srgbClr val="A1A1AA"/>
                </a:solidFill>
              </a:defRPr>
            </a:pPr>
            <a:r>
              <a:t>• Static Analysis: Semgrep CLI.</a:t>
            </a:r>
          </a:p>
          <a:p>
            <a:pPr>
              <a:spcBef>
                <a:spcPts val="600"/>
              </a:spcBef>
              <a:defRPr sz="1200">
                <a:solidFill>
                  <a:srgbClr val="A1A1AA"/>
                </a:solidFill>
              </a:defRPr>
            </a:pPr>
            <a:r>
              <a:t>• Sandbox: Pytest Subprocess Runner.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120640" cy="4572000"/>
          </a:xfrm>
          <a:prstGeom prst="roundRect">
            <a:avLst/>
          </a:prstGeom>
          <a:solidFill>
            <a:srgbClr val="121214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Resilience Features</a:t>
            </a:r>
          </a:p>
          <a:p>
            <a:pPr>
              <a:spcBef>
                <a:spcPts val="600"/>
              </a:spcBef>
              <a:defRPr sz="1200">
                <a:solidFill>
                  <a:srgbClr val="A1A1AA"/>
                </a:solidFill>
              </a:defRPr>
            </a:pPr>
            <a:r>
              <a:t>• Model Fallback Chain: Auto-retries gemini-3.5 ➔ gemini-3.6 ➔ gemini-latest.</a:t>
            </a:r>
          </a:p>
          <a:p>
            <a:pPr>
              <a:spcBef>
                <a:spcPts val="600"/>
              </a:spcBef>
              <a:defRPr sz="1200">
                <a:solidFill>
                  <a:srgbClr val="A1A1AA"/>
                </a:solidFill>
              </a:defRPr>
            </a:pPr>
            <a:r>
              <a:t>• Non-Blocking Async: asyncio.to_thread keeps /health 100% active.</a:t>
            </a:r>
          </a:p>
          <a:p>
            <a:pPr>
              <a:spcBef>
                <a:spcPts val="600"/>
              </a:spcBef>
              <a:defRPr sz="1200">
                <a:solidFill>
                  <a:srgbClr val="A1A1AA"/>
                </a:solidFill>
              </a:defRPr>
            </a:pPr>
            <a:r>
              <a:t>• Dynamic Key Reloading: Instantly picks up new API keys from .env.</a:t>
            </a:r>
          </a:p>
          <a:p>
            <a:pPr>
              <a:spcBef>
                <a:spcPts val="600"/>
              </a:spcBef>
              <a:defRPr sz="1200">
                <a:solidFill>
                  <a:srgbClr val="A1A1AA"/>
                </a:solidFill>
              </a:defRPr>
            </a:pPr>
            <a:r>
              <a:t>• Error Matrix: Clean HTTP status codes (400, 403, 406, 413, 429).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CODESLEUTH • INTERNATIONAL HACKATHON PITCH</a:t>
            </a:r>
          </a:p>
          <a:p>
            <a:pPr>
              <a:defRPr sz="2600" b="1">
                <a:solidFill>
                  <a:srgbClr val="F4F4F5"/>
                </a:solidFill>
              </a:defRPr>
            </a:pPr>
            <a:r>
              <a:t>Security, Isolation &amp; Privacy Guarantees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291840" cy="4572000"/>
          </a:xfrm>
          <a:prstGeom prst="roundRect">
            <a:avLst/>
          </a:prstGeom>
          <a:solidFill>
            <a:srgbClr val="121214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Tempdir Isolation</a:t>
            </a:r>
          </a:p>
          <a:p>
            <a:pPr>
              <a:spcBef>
                <a:spcPts val="600"/>
              </a:spcBef>
              <a:defRPr sz="1200">
                <a:solidFill>
                  <a:srgbClr val="A1A1AA"/>
                </a:solidFill>
              </a:defRPr>
            </a:pPr>
            <a:r>
              <a:t>• Executes inside temporary directories.</a:t>
            </a:r>
          </a:p>
          <a:p>
            <a:pPr>
              <a:spcBef>
                <a:spcPts val="600"/>
              </a:spcBef>
              <a:defRPr sz="1200">
                <a:solidFill>
                  <a:srgbClr val="A1A1AA"/>
                </a:solidFill>
              </a:defRPr>
            </a:pPr>
            <a:r>
              <a:t>• Automatically purged from disk after run.</a:t>
            </a:r>
          </a:p>
          <a:p>
            <a:pPr>
              <a:spcBef>
                <a:spcPts val="600"/>
              </a:spcBef>
              <a:defRPr sz="1200">
                <a:solidFill>
                  <a:srgbClr val="A1A1AA"/>
                </a:solidFill>
              </a:defRPr>
            </a:pPr>
            <a:r>
              <a:t>• Zero persistent code storage.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291840" cy="4572000"/>
          </a:xfrm>
          <a:prstGeom prst="roundRect">
            <a:avLst/>
          </a:prstGeom>
          <a:solidFill>
            <a:srgbClr val="121214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73736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Process Timeouts</a:t>
            </a:r>
          </a:p>
          <a:p>
            <a:pPr>
              <a:spcBef>
                <a:spcPts val="600"/>
              </a:spcBef>
              <a:defRPr sz="1200">
                <a:solidFill>
                  <a:srgbClr val="A1A1AA"/>
                </a:solidFill>
              </a:defRPr>
            </a:pPr>
            <a:r>
              <a:t>• 15-second hard process cap.</a:t>
            </a:r>
          </a:p>
          <a:p>
            <a:pPr>
              <a:spcBef>
                <a:spcPts val="600"/>
              </a:spcBef>
              <a:defRPr sz="1200">
                <a:solidFill>
                  <a:srgbClr val="A1A1AA"/>
                </a:solidFill>
              </a:defRPr>
            </a:pPr>
            <a:r>
              <a:t>• Prevents infinite loops &amp; hang attacks.</a:t>
            </a:r>
          </a:p>
          <a:p>
            <a:pPr>
              <a:spcBef>
                <a:spcPts val="600"/>
              </a:spcBef>
              <a:defRPr sz="1200">
                <a:solidFill>
                  <a:srgbClr val="A1A1AA"/>
                </a:solidFill>
              </a:defRPr>
            </a:pPr>
            <a:r>
              <a:t>• Resource-bounded execution.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291840" cy="4572000"/>
          </a:xfrm>
          <a:prstGeom prst="roundRect">
            <a:avLst/>
          </a:prstGeom>
          <a:solidFill>
            <a:srgbClr val="121214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73736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Secrets Safety</a:t>
            </a:r>
          </a:p>
          <a:p>
            <a:pPr>
              <a:spcBef>
                <a:spcPts val="600"/>
              </a:spcBef>
              <a:defRPr sz="1200">
                <a:solidFill>
                  <a:srgbClr val="A1A1AA"/>
                </a:solidFill>
              </a:defRPr>
            </a:pPr>
            <a:r>
              <a:t>• .env excluded from git commits.</a:t>
            </a:r>
          </a:p>
          <a:p>
            <a:pPr>
              <a:spcBef>
                <a:spcPts val="600"/>
              </a:spcBef>
              <a:defRPr sz="1200">
                <a:solidFill>
                  <a:srgbClr val="A1A1AA"/>
                </a:solidFill>
              </a:defRPr>
            </a:pPr>
            <a:r>
              <a:t>• No PAT/OAuth tokens logged.</a:t>
            </a:r>
          </a:p>
          <a:p>
            <a:pPr>
              <a:spcBef>
                <a:spcPts val="600"/>
              </a:spcBef>
              <a:defRPr sz="1200">
                <a:solidFill>
                  <a:srgbClr val="A1A1AA"/>
                </a:solidFill>
              </a:defRPr>
            </a:pPr>
            <a:r>
              <a:t>• Sanitized error responses.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CODESLEUTH • INTERNATIONAL HACKATHON PITCH</a:t>
            </a:r>
          </a:p>
          <a:p>
            <a:pPr>
              <a:defRPr sz="2600" b="1">
                <a:solidFill>
                  <a:srgbClr val="F4F4F5"/>
                </a:solidFill>
              </a:defRPr>
            </a:pPr>
            <a:r>
              <a:t>Future Roadmap: Scaling CodeSleuth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291840" cy="4572000"/>
          </a:xfrm>
          <a:prstGeom prst="roundRect">
            <a:avLst/>
          </a:prstGeom>
          <a:solidFill>
            <a:srgbClr val="121214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Phase 1: CI/CD Bot</a:t>
            </a:r>
          </a:p>
          <a:p>
            <a:pPr>
              <a:spcBef>
                <a:spcPts val="600"/>
              </a:spcBef>
              <a:defRPr sz="1200">
                <a:solidFill>
                  <a:srgbClr val="A1A1AA"/>
                </a:solidFill>
              </a:defRPr>
            </a:pPr>
            <a:r>
              <a:t>• GitHub Action bot integration.</a:t>
            </a:r>
          </a:p>
          <a:p>
            <a:pPr>
              <a:spcBef>
                <a:spcPts val="600"/>
              </a:spcBef>
              <a:defRPr sz="1200">
                <a:solidFill>
                  <a:srgbClr val="A1A1AA"/>
                </a:solidFill>
              </a:defRPr>
            </a:pPr>
            <a:r>
              <a:t>• Automated PR review comments.</a:t>
            </a:r>
          </a:p>
          <a:p>
            <a:pPr>
              <a:spcBef>
                <a:spcPts val="600"/>
              </a:spcBef>
              <a:defRPr sz="1200">
                <a:solidFill>
                  <a:srgbClr val="A1A1AA"/>
                </a:solidFill>
              </a:defRPr>
            </a:pPr>
            <a:r>
              <a:t>• Inline test execution badges.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291840" cy="4572000"/>
          </a:xfrm>
          <a:prstGeom prst="roundRect">
            <a:avLst/>
          </a:prstGeom>
          <a:solidFill>
            <a:srgbClr val="121214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73736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Phase 2: Multi-Language</a:t>
            </a:r>
          </a:p>
          <a:p>
            <a:pPr>
              <a:spcBef>
                <a:spcPts val="600"/>
              </a:spcBef>
              <a:defRPr sz="1200">
                <a:solidFill>
                  <a:srgbClr val="A1A1AA"/>
                </a:solidFill>
              </a:defRPr>
            </a:pPr>
            <a:r>
              <a:t>• Node.js (Jest) sandbox runner.</a:t>
            </a:r>
          </a:p>
          <a:p>
            <a:pPr>
              <a:spcBef>
                <a:spcPts val="600"/>
              </a:spcBef>
              <a:defRPr sz="1200">
                <a:solidFill>
                  <a:srgbClr val="A1A1AA"/>
                </a:solidFill>
              </a:defRPr>
            </a:pPr>
            <a:r>
              <a:t>• Go (go test) sandbox runner.</a:t>
            </a:r>
          </a:p>
          <a:p>
            <a:pPr>
              <a:spcBef>
                <a:spcPts val="600"/>
              </a:spcBef>
              <a:defRPr sz="1200">
                <a:solidFill>
                  <a:srgbClr val="A1A1AA"/>
                </a:solidFill>
              </a:defRPr>
            </a:pPr>
            <a:r>
              <a:t>• Rust (cargo test) sandbox runner.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291840" cy="4572000"/>
          </a:xfrm>
          <a:prstGeom prst="roundRect">
            <a:avLst/>
          </a:prstGeom>
          <a:solidFill>
            <a:srgbClr val="121214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73736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Phase 3: Enterprise</a:t>
            </a:r>
          </a:p>
          <a:p>
            <a:pPr>
              <a:spcBef>
                <a:spcPts val="600"/>
              </a:spcBef>
              <a:defRPr sz="1200">
                <a:solidFill>
                  <a:srgbClr val="A1A1AA"/>
                </a:solidFill>
              </a:defRPr>
            </a:pPr>
            <a:r>
              <a:t>• Self-hosted Docker runner cluster.</a:t>
            </a:r>
          </a:p>
          <a:p>
            <a:pPr>
              <a:spcBef>
                <a:spcPts val="600"/>
              </a:spcBef>
              <a:defRPr sz="1200">
                <a:solidFill>
                  <a:srgbClr val="A1A1AA"/>
                </a:solidFill>
              </a:defRPr>
            </a:pPr>
            <a:r>
              <a:t>• Custom internal Semgrep rules.</a:t>
            </a:r>
          </a:p>
          <a:p>
            <a:pPr>
              <a:spcBef>
                <a:spcPts val="600"/>
              </a:spcBef>
              <a:defRPr sz="1200">
                <a:solidFill>
                  <a:srgbClr val="A1A1AA"/>
                </a:solidFill>
              </a:defRPr>
            </a:pPr>
            <a:r>
              <a:t>• SOC-2 compliant code privacy.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CodeSleuth — Grounded &amp; Verified Code Intelligence</a:t>
            </a:r>
          </a:p>
          <a:p>
            <a:pPr>
              <a:spcBef>
                <a:spcPts val="1500"/>
              </a:spcBef>
              <a:defRPr sz="2000">
                <a:solidFill>
                  <a:srgbClr val="F4F4F5"/>
                </a:solidFill>
              </a:defRPr>
            </a:pPr>
            <a:r>
              <a:t>A submission-ready, fully functional prototype for international hackathons.</a:t>
            </a:r>
          </a:p>
          <a:p>
            <a:pPr>
              <a:spcBef>
                <a:spcPts val="2500"/>
              </a:spcBef>
              <a:defRPr sz="1400">
                <a:solidFill>
                  <a:srgbClr val="34D399"/>
                </a:solidFill>
              </a:defRPr>
            </a:pPr>
            <a:r>
              <a:t>• Live Application: http://localhost:5173</a:t>
            </a:r>
            <a:br/>
            <a:r>
              <a:t>• Backend API: http://localhost:8001</a:t>
            </a:r>
            <a:br/>
            <a:r>
              <a:t>• Interactive Docs: http://localhost:8001/docs</a:t>
            </a:r>
          </a:p>
          <a:p>
            <a:pPr>
              <a:spcBef>
                <a:spcPts val="2500"/>
              </a:spcBef>
              <a:defRPr sz="1800" b="1">
                <a:solidFill>
                  <a:srgbClr val="F4F4F5"/>
                </a:solidFill>
              </a:defRPr>
            </a:pPr>
            <a:r>
              <a:t>Thank you! Open for Judges Q&amp;A.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4119</Words>
  <Application>WPS Presentation</Application>
  <PresentationFormat>On-screen Show (4:3)</PresentationFormat>
  <Paragraphs>131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NIKHIL</cp:lastModifiedBy>
  <cp:revision>2</cp:revision>
  <dcterms:created xsi:type="dcterms:W3CDTF">2013-01-27T09:14:00Z</dcterms:created>
  <dcterms:modified xsi:type="dcterms:W3CDTF">2026-08-11T16:58:01Z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BBF2DD4FEC6E43459C261BFA68479158_12</vt:lpwstr>
  </property>
  <property fmtid="{D5CDD505-2E9C-101B-9397-08002B2CF9AE}" pid="3" name="KSOProductBuildVer">
    <vt:lpwstr>1033-12.1.0.28032</vt:lpwstr>
  </property>
</Properties>
</file>